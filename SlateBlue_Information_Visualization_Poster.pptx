
<file path=[Content_Types].xml><?xml version="1.0" encoding="utf-8"?>
<Types xmlns="http://schemas.openxmlformats.org/package/2006/content-types">
  <Default Extension="jpg" ContentType="image/pn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>
        <p:scale>
          <a:sx n="100" d="100"/>
          <a:sy n="100" d="100"/>
        </p:scale>
        <p:origin x="-913" y="-64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Original visualization and article: https://www.carbonbrief.org/analysis-global-co2-emissions-will-reach-new-high-in-2024-despite-slower-growth/</a:t>
            </a:r>
          </a:p>
          <a:p>
            <a:r>
              <a:t>Global Carbon Project, National Fossil Carbon Emissions 2024 v1.0: https://globalcarbonbudget.org/gcb-2024/</a:t>
            </a:r>
          </a:p>
          <a:p>
            <a:r>
              <a:t>World Bank population indicator SP.POP.TOTL: https://data.worldbank.org/indicator/SP.POP.TOTL</a:t>
            </a:r>
          </a:p>
          <a:p>
            <a:r>
              <a:t>World Bank GDP (current US$) indicator NY.GDP.MKTP.CD: https://data.worldbank.org/indicator/NY.GDP.MKTP.CD</a:t>
            </a:r>
          </a:p>
          <a:p>
            <a:r>
              <a:t>Improved visualization: user-provided project output generated from the cited datasets.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oster-eyebrow">
            <a:extLst>
              <a:ext uri="{FF2B5EF4-FFF2-40B4-BE49-F238E27FC236}">
                <a16:creationId xmlns:a16="http://schemas.microsoft.com/office/drawing/2014/main" id="{E08A73F4-AF3B-4FB9-9199-6E75EBE57C78}"/>
              </a:ext>
            </a:extLst>
          </p:cNvPr>
          <p:cNvSpPr>
            <a:spLocks noGrp="1"/>
          </p:cNvSpPr>
          <p:nvPr/>
        </p:nvSpPr>
        <p:spPr>
          <a:xfrm>
            <a:off x="476250" y="219075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0072B2"/>
                </a:solidFill>
              </a:defRPr>
            </a:pPr>
            <a:r>
              <a:rPr sz="1200" b="1">
                <a:solidFill>
                  <a:srgbClr val="0072B2"/>
                </a:solidFill>
              </a:rPr>
              <a:t>INFORMATION VISUALIZATION REDESIGN</a:t>
            </a:r>
          </a:p>
        </p:txBody>
      </p:sp>
      <p:sp>
        <p:nvSpPr>
          <p:cNvPr id="2" name="poster-title">
            <a:extLst>
              <a:ext uri="{FF2B5EF4-FFF2-40B4-BE49-F238E27FC236}">
                <a16:creationId xmlns:a16="http://schemas.microsoft.com/office/drawing/2014/main" id="{E8B61170-807C-41C5-A9C3-D1CB68BCC6F7}"/>
              </a:ext>
            </a:extLst>
          </p:cNvPr>
          <p:cNvSpPr>
            <a:spLocks noGrp="1"/>
          </p:cNvSpPr>
          <p:nvPr/>
        </p:nvSpPr>
        <p:spPr>
          <a:xfrm>
            <a:off x="476250" y="447675"/>
            <a:ext cx="11334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750" b="1">
                <a:solidFill>
                  <a:srgbClr val="183B56"/>
                </a:solidFill>
              </a:defRPr>
            </a:pPr>
            <a:r>
              <a:rPr sz="3750" b="1">
                <a:solidFill>
                  <a:srgbClr val="183B56"/>
                </a:solidFill>
              </a:rPr>
              <a:t>Global fossil CO₂ emissions, unstacked</a:t>
            </a:r>
          </a:p>
        </p:txBody>
      </p:sp>
      <p:sp>
        <p:nvSpPr>
          <p:cNvPr id="3" name="poster-subtitle">
            <a:extLst>
              <a:ext uri="{FF2B5EF4-FFF2-40B4-BE49-F238E27FC236}">
                <a16:creationId xmlns:a16="http://schemas.microsoft.com/office/drawing/2014/main" id="{2A870308-500A-4C5D-8D3A-3876E006D13F}"/>
              </a:ext>
            </a:extLst>
          </p:cNvPr>
          <p:cNvSpPr>
            <a:spLocks noGrp="1"/>
          </p:cNvSpPr>
          <p:nvPr/>
        </p:nvSpPr>
        <p:spPr>
          <a:xfrm>
            <a:off x="495300" y="962025"/>
            <a:ext cx="96202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5D6971"/>
                </a:solidFill>
              </a:defRPr>
            </a:pPr>
            <a:r>
              <a:rPr sz="1500" b="0">
                <a:solidFill>
                  <a:srgbClr val="5D6971"/>
                </a:solidFill>
              </a:rPr>
              <a:t>A comparison-first redesign for general readers of climate news</a:t>
            </a:r>
          </a:p>
        </p:txBody>
      </p:sp>
      <p:sp>
        <p:nvSpPr>
          <p:cNvPr id="4" name="course-label">
            <a:extLst>
              <a:ext uri="{FF2B5EF4-FFF2-40B4-BE49-F238E27FC236}">
                <a16:creationId xmlns:a16="http://schemas.microsoft.com/office/drawing/2014/main" id="{090F4A22-E112-478E-A19E-78AB5EA8286A}"/>
              </a:ext>
            </a:extLst>
          </p:cNvPr>
          <p:cNvSpPr>
            <a:spLocks noGrp="1"/>
          </p:cNvSpPr>
          <p:nvPr/>
        </p:nvSpPr>
        <p:spPr>
          <a:xfrm>
            <a:off x="12192000" y="381000"/>
            <a:ext cx="2571750" cy="590550"/>
          </a:xfrm>
          <a:prstGeom prst="rect">
            <a:avLst/>
          </a:prstGeom>
          <a:solidFill>
            <a:srgbClr val="183B56"/>
          </a:solidFill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TEAM SLATEBLUE</a:t>
            </a:r>
          </a:p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CSC3107 INFORMATION VISUALIZATION</a:t>
            </a:r>
          </a:p>
        </p:txBody>
      </p:sp>
      <p:sp>
        <p:nvSpPr>
          <p:cNvPr id="5" name="header-rule">
            <a:extLst>
              <a:ext uri="{FF2B5EF4-FFF2-40B4-BE49-F238E27FC236}">
                <a16:creationId xmlns:a16="http://schemas.microsoft.com/office/drawing/2014/main" id="{4721218B-854A-49AE-BF77-AC9B17BD412F}"/>
              </a:ext>
            </a:extLst>
          </p:cNvPr>
          <p:cNvSpPr>
            <a:spLocks noGrp="1"/>
          </p:cNvSpPr>
          <p:nvPr/>
        </p:nvSpPr>
        <p:spPr>
          <a:xfrm>
            <a:off x="476250" y="1257300"/>
            <a:ext cx="14287500" cy="0"/>
          </a:xfrm>
          <a:prstGeom prst="line">
            <a:avLst/>
          </a:prstGeom>
          <a:noFill/>
          <a:ln w="28575">
            <a:solidFill>
              <a:srgbClr val="183B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original-heading">
            <a:extLst>
              <a:ext uri="{FF2B5EF4-FFF2-40B4-BE49-F238E27FC236}">
                <a16:creationId xmlns:a16="http://schemas.microsoft.com/office/drawing/2014/main" id="{D7845612-A309-4213-A447-45EE0BDEA4E4}"/>
              </a:ext>
            </a:extLst>
          </p:cNvPr>
          <p:cNvSpPr>
            <a:spLocks noGrp="1"/>
          </p:cNvSpPr>
          <p:nvPr/>
        </p:nvSpPr>
        <p:spPr>
          <a:xfrm>
            <a:off x="476250" y="1438275"/>
            <a:ext cx="400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83B56"/>
                </a:solidFill>
              </a:defRPr>
            </a:pPr>
            <a:r>
              <a:rPr sz="1800" b="1">
                <a:solidFill>
                  <a:srgbClr val="183B56"/>
                </a:solidFill>
              </a:rPr>
              <a:t>1  ORIGINAL VISUALIZATION</a:t>
            </a:r>
          </a:p>
        </p:txBody>
      </p:sp>
      <p:sp>
        <p:nvSpPr>
          <p:cNvPr id="7" name="original-image-frame">
            <a:extLst>
              <a:ext uri="{FF2B5EF4-FFF2-40B4-BE49-F238E27FC236}">
                <a16:creationId xmlns:a16="http://schemas.microsoft.com/office/drawing/2014/main" id="{9868A52F-0F2B-4F93-B202-28AFDC7E515D}"/>
              </a:ext>
            </a:extLst>
          </p:cNvPr>
          <p:cNvSpPr>
            <a:spLocks noGrp="1"/>
          </p:cNvSpPr>
          <p:nvPr/>
        </p:nvSpPr>
        <p:spPr>
          <a:xfrm>
            <a:off x="476250" y="1790700"/>
            <a:ext cx="4000500" cy="2428875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D8E0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0" name="Picture 4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20948" y="1838346"/>
            <a:ext cx="3330153" cy="2317736"/>
          </a:xfrm>
          <a:prstGeom prst="rect">
            <a:avLst/>
          </a:prstGeom>
        </p:spPr>
      </p:pic>
      <p:sp>
        <p:nvSpPr>
          <p:cNvPr id="9" name="original-credit">
            <a:extLst>
              <a:ext uri="{FF2B5EF4-FFF2-40B4-BE49-F238E27FC236}">
                <a16:creationId xmlns:a16="http://schemas.microsoft.com/office/drawing/2014/main" id="{6C8419D4-7B52-40D4-A637-322E2D4DACB8}"/>
              </a:ext>
            </a:extLst>
          </p:cNvPr>
          <p:cNvSpPr>
            <a:spLocks noGrp="1"/>
          </p:cNvSpPr>
          <p:nvPr/>
        </p:nvSpPr>
        <p:spPr>
          <a:xfrm>
            <a:off x="514350" y="4257675"/>
            <a:ext cx="39243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D6971"/>
                </a:solidFill>
              </a:defRPr>
            </a:pPr>
            <a:r>
              <a:rPr sz="1200" b="0">
                <a:solidFill>
                  <a:srgbClr val="5D6971"/>
                </a:solidFill>
              </a:rPr>
              <a:t>Credit: Carbon Brief (2024)</a:t>
            </a:r>
          </a:p>
          <a:p>
            <a:pPr algn="l">
              <a:defRPr sz="1200" b="0">
                <a:solidFill>
                  <a:srgbClr val="5D6971"/>
                </a:solidFill>
              </a:defRPr>
            </a:pPr>
            <a:r>
              <a:rPr sz="1200" b="0">
                <a:solidFill>
                  <a:srgbClr val="5D6971"/>
                </a:solidFill>
              </a:rPr>
              <a:t>Data: Global Carbon Project</a:t>
            </a:r>
          </a:p>
        </p:txBody>
      </p:sp>
      <p:sp>
        <p:nvSpPr>
          <p:cNvPr id="10" name="left-divider">
            <a:extLst>
              <a:ext uri="{FF2B5EF4-FFF2-40B4-BE49-F238E27FC236}">
                <a16:creationId xmlns:a16="http://schemas.microsoft.com/office/drawing/2014/main" id="{84BA1672-618F-4A5D-AA17-2AD159FA8C07}"/>
              </a:ext>
            </a:extLst>
          </p:cNvPr>
          <p:cNvSpPr>
            <a:spLocks noGrp="1"/>
          </p:cNvSpPr>
          <p:nvPr/>
        </p:nvSpPr>
        <p:spPr>
          <a:xfrm>
            <a:off x="476250" y="4762500"/>
            <a:ext cx="4000500" cy="0"/>
          </a:xfrm>
          <a:prstGeom prst="line">
            <a:avLst/>
          </a:prstGeom>
          <a:noFill/>
          <a:ln w="38100">
            <a:solidFill>
              <a:srgbClr val="B347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critique-heading">
            <a:extLst>
              <a:ext uri="{FF2B5EF4-FFF2-40B4-BE49-F238E27FC236}">
                <a16:creationId xmlns:a16="http://schemas.microsoft.com/office/drawing/2014/main" id="{2C358AD1-F061-41A0-A616-AD9065AED82B}"/>
              </a:ext>
            </a:extLst>
          </p:cNvPr>
          <p:cNvSpPr>
            <a:spLocks noGrp="1"/>
          </p:cNvSpPr>
          <p:nvPr/>
        </p:nvSpPr>
        <p:spPr>
          <a:xfrm>
            <a:off x="476250" y="4876800"/>
            <a:ext cx="400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83B56"/>
                </a:solidFill>
              </a:defRPr>
            </a:pPr>
            <a:r>
              <a:rPr sz="1800" b="1">
                <a:solidFill>
                  <a:srgbClr val="183B56"/>
                </a:solidFill>
              </a:rPr>
              <a:t>2  WHAT LIMITS COMPARISON?</a:t>
            </a:r>
          </a:p>
        </p:txBody>
      </p:sp>
      <p:sp>
        <p:nvSpPr>
          <p:cNvPr id="12" name="critique-item-1">
            <a:extLst>
              <a:ext uri="{FF2B5EF4-FFF2-40B4-BE49-F238E27FC236}">
                <a16:creationId xmlns:a16="http://schemas.microsoft.com/office/drawing/2014/main" id="{54BEEE7E-810E-4B36-B263-15F8038FB857}"/>
              </a:ext>
            </a:extLst>
          </p:cNvPr>
          <p:cNvSpPr>
            <a:spLocks noGrp="1"/>
          </p:cNvSpPr>
          <p:nvPr/>
        </p:nvSpPr>
        <p:spPr>
          <a:xfrm>
            <a:off x="571500" y="5219700"/>
            <a:ext cx="38290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>
                <a:solidFill>
                  <a:srgbClr val="26323A"/>
                </a:solidFill>
              </a:rPr>
              <a:t>• Only the bottom layer has a stable baseline; other values require subtracting moving boundaries.</a:t>
            </a:r>
          </a:p>
        </p:txBody>
      </p:sp>
      <p:sp>
        <p:nvSpPr>
          <p:cNvPr id="13" name="critique-item-2">
            <a:extLst>
              <a:ext uri="{FF2B5EF4-FFF2-40B4-BE49-F238E27FC236}">
                <a16:creationId xmlns:a16="http://schemas.microsoft.com/office/drawing/2014/main" id="{28654507-EED0-43F0-9D5A-6768F6B9DFFC}"/>
              </a:ext>
            </a:extLst>
          </p:cNvPr>
          <p:cNvSpPr>
            <a:spLocks noGrp="1"/>
          </p:cNvSpPr>
          <p:nvPr/>
        </p:nvSpPr>
        <p:spPr>
          <a:xfrm>
            <a:off x="571500" y="5657850"/>
            <a:ext cx="38290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>
                <a:solidFill>
                  <a:srgbClr val="26323A"/>
                </a:solidFill>
              </a:rPr>
              <a:t>• Similar blue tints and a distant legend increase identification effort.</a:t>
            </a:r>
          </a:p>
        </p:txBody>
      </p:sp>
      <p:sp>
        <p:nvSpPr>
          <p:cNvPr id="14" name="critique-item-3">
            <a:extLst>
              <a:ext uri="{FF2B5EF4-FFF2-40B4-BE49-F238E27FC236}">
                <a16:creationId xmlns:a16="http://schemas.microsoft.com/office/drawing/2014/main" id="{A8E35460-0C76-49E7-8113-054A4DD2459D}"/>
              </a:ext>
            </a:extLst>
          </p:cNvPr>
          <p:cNvSpPr>
            <a:spLocks noGrp="1"/>
          </p:cNvSpPr>
          <p:nvPr/>
        </p:nvSpPr>
        <p:spPr>
          <a:xfrm>
            <a:off x="571500" y="6057900"/>
            <a:ext cx="38290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>
                <a:solidFill>
                  <a:srgbClr val="26323A"/>
                </a:solidFill>
              </a:rPr>
              <a:t>• Countries are mixed with the EU and “Rest of world” aggregates.</a:t>
            </a:r>
          </a:p>
        </p:txBody>
      </p:sp>
      <p:sp>
        <p:nvSpPr>
          <p:cNvPr id="15" name="critique-item-4">
            <a:extLst>
              <a:ext uri="{FF2B5EF4-FFF2-40B4-BE49-F238E27FC236}">
                <a16:creationId xmlns:a16="http://schemas.microsoft.com/office/drawing/2014/main" id="{FF747383-EB2D-4FE0-B3C8-9F0265A7AC62}"/>
              </a:ext>
            </a:extLst>
          </p:cNvPr>
          <p:cNvSpPr>
            <a:spLocks noGrp="1"/>
          </p:cNvSpPr>
          <p:nvPr/>
        </p:nvSpPr>
        <p:spPr>
          <a:xfrm>
            <a:off x="571500" y="6457950"/>
            <a:ext cx="3829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>
                <a:solidFill>
                  <a:srgbClr val="26323A"/>
                </a:solidFill>
              </a:rPr>
              <a:t>• Total-only values omit population-adjusted context.</a:t>
            </a:r>
          </a:p>
        </p:txBody>
      </p:sp>
      <p:sp>
        <p:nvSpPr>
          <p:cNvPr id="16" name="improved-heading">
            <a:extLst>
              <a:ext uri="{FF2B5EF4-FFF2-40B4-BE49-F238E27FC236}">
                <a16:creationId xmlns:a16="http://schemas.microsoft.com/office/drawing/2014/main" id="{028ADC3E-E420-4598-8203-105158713BE6}"/>
              </a:ext>
            </a:extLst>
          </p:cNvPr>
          <p:cNvSpPr>
            <a:spLocks noGrp="1"/>
          </p:cNvSpPr>
          <p:nvPr/>
        </p:nvSpPr>
        <p:spPr>
          <a:xfrm>
            <a:off x="4810125" y="1438275"/>
            <a:ext cx="7048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183B56"/>
                </a:solidFill>
              </a:defRPr>
            </a:pPr>
            <a:r>
              <a:rPr sz="2100" b="1">
                <a:solidFill>
                  <a:srgbClr val="183B56"/>
                </a:solidFill>
              </a:rPr>
              <a:t>3  IMPROVED VISUALIZATION</a:t>
            </a:r>
          </a:p>
        </p:txBody>
      </p:sp>
      <p:sp>
        <p:nvSpPr>
          <p:cNvPr id="17" name="improved-image-frame">
            <a:extLst>
              <a:ext uri="{FF2B5EF4-FFF2-40B4-BE49-F238E27FC236}">
                <a16:creationId xmlns:a16="http://schemas.microsoft.com/office/drawing/2014/main" id="{90F028F8-7D50-4E87-ACB1-2203FBCFAE86}"/>
              </a:ext>
            </a:extLst>
          </p:cNvPr>
          <p:cNvSpPr>
            <a:spLocks noGrp="1"/>
          </p:cNvSpPr>
          <p:nvPr/>
        </p:nvSpPr>
        <p:spPr>
          <a:xfrm>
            <a:off x="4762500" y="1790700"/>
            <a:ext cx="7143750" cy="485775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905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ight-context-surface">
            <a:extLst>
              <a:ext uri="{FF2B5EF4-FFF2-40B4-BE49-F238E27FC236}">
                <a16:creationId xmlns:a16="http://schemas.microsoft.com/office/drawing/2014/main" id="{84E17126-4A42-4FF3-9F8E-2722F6467CF0}"/>
              </a:ext>
            </a:extLst>
          </p:cNvPr>
          <p:cNvSpPr>
            <a:spLocks noGrp="1"/>
          </p:cNvSpPr>
          <p:nvPr/>
        </p:nvSpPr>
        <p:spPr>
          <a:xfrm>
            <a:off x="12096750" y="1438275"/>
            <a:ext cx="2667000" cy="5210175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8E0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design-heading">
            <a:extLst>
              <a:ext uri="{FF2B5EF4-FFF2-40B4-BE49-F238E27FC236}">
                <a16:creationId xmlns:a16="http://schemas.microsoft.com/office/drawing/2014/main" id="{74F50EA3-E7A0-43C9-9346-B545829B9925}"/>
              </a:ext>
            </a:extLst>
          </p:cNvPr>
          <p:cNvSpPr>
            <a:spLocks noGrp="1"/>
          </p:cNvSpPr>
          <p:nvPr/>
        </p:nvSpPr>
        <p:spPr>
          <a:xfrm>
            <a:off x="12287250" y="1609725"/>
            <a:ext cx="2286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0072B2"/>
                </a:solidFill>
              </a:defRPr>
            </a:pPr>
            <a:r>
              <a:rPr sz="1800" b="1">
                <a:solidFill>
                  <a:srgbClr val="0072B2"/>
                </a:solidFill>
              </a:rPr>
              <a:t>WHY IT WORKS</a:t>
            </a:r>
          </a:p>
        </p:txBody>
      </p:sp>
      <p:sp>
        <p:nvSpPr>
          <p:cNvPr id="21" name="redesign-item-1">
            <a:extLst>
              <a:ext uri="{FF2B5EF4-FFF2-40B4-BE49-F238E27FC236}">
                <a16:creationId xmlns:a16="http://schemas.microsoft.com/office/drawing/2014/main" id="{3E3B26D5-EEF7-4CFB-A635-FD58A2003410}"/>
              </a:ext>
            </a:extLst>
          </p:cNvPr>
          <p:cNvSpPr>
            <a:spLocks noGrp="1"/>
          </p:cNvSpPr>
          <p:nvPr/>
        </p:nvSpPr>
        <p:spPr>
          <a:xfrm>
            <a:off x="12287250" y="2162175"/>
            <a:ext cx="23050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>
                <a:solidFill>
                  <a:srgbClr val="26323A"/>
                </a:solidFill>
              </a:rPr>
              <a:t>• Separate sparklines remove stacked-boundary estimation.</a:t>
            </a:r>
          </a:p>
        </p:txBody>
      </p:sp>
      <p:sp>
        <p:nvSpPr>
          <p:cNvPr id="22" name="redesign-item-2">
            <a:extLst>
              <a:ext uri="{FF2B5EF4-FFF2-40B4-BE49-F238E27FC236}">
                <a16:creationId xmlns:a16="http://schemas.microsoft.com/office/drawing/2014/main" id="{0346C853-5271-4D29-BE11-CDB38807DAFC}"/>
              </a:ext>
            </a:extLst>
          </p:cNvPr>
          <p:cNvSpPr>
            <a:spLocks noGrp="1"/>
          </p:cNvSpPr>
          <p:nvPr/>
        </p:nvSpPr>
        <p:spPr>
          <a:xfrm>
            <a:off x="12287250" y="2600325"/>
            <a:ext cx="23050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>
                <a:solidFill>
                  <a:srgbClr val="26323A"/>
                </a:solidFill>
              </a:rPr>
              <a:t>• Direct labels and Okabe–Ito colours speed identification.</a:t>
            </a:r>
          </a:p>
        </p:txBody>
      </p:sp>
      <p:sp>
        <p:nvSpPr>
          <p:cNvPr id="23" name="redesign-item-3">
            <a:extLst>
              <a:ext uri="{FF2B5EF4-FFF2-40B4-BE49-F238E27FC236}">
                <a16:creationId xmlns:a16="http://schemas.microsoft.com/office/drawing/2014/main" id="{AE473FA0-362D-4D9D-9BC1-FA5BE6106E52}"/>
              </a:ext>
            </a:extLst>
          </p:cNvPr>
          <p:cNvSpPr>
            <a:spLocks noGrp="1"/>
          </p:cNvSpPr>
          <p:nvPr/>
        </p:nvSpPr>
        <p:spPr>
          <a:xfrm>
            <a:off x="12287250" y="3038475"/>
            <a:ext cx="23050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>
                <a:solidFill>
                  <a:srgbClr val="26323A"/>
                </a:solidFill>
              </a:rPr>
              <a:t>• Country-only rows support like-for-like comparison.</a:t>
            </a:r>
          </a:p>
        </p:txBody>
      </p:sp>
      <p:sp>
        <p:nvSpPr>
          <p:cNvPr id="24" name="redesign-item-4">
            <a:extLst>
              <a:ext uri="{FF2B5EF4-FFF2-40B4-BE49-F238E27FC236}">
                <a16:creationId xmlns:a16="http://schemas.microsoft.com/office/drawing/2014/main" id="{28D55F55-6A55-4537-BB84-1B39534AB0FA}"/>
              </a:ext>
            </a:extLst>
          </p:cNvPr>
          <p:cNvSpPr>
            <a:spLocks noGrp="1"/>
          </p:cNvSpPr>
          <p:nvPr/>
        </p:nvSpPr>
        <p:spPr>
          <a:xfrm>
            <a:off x="12287250" y="3476625"/>
            <a:ext cx="23050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>
                <a:solidFill>
                  <a:srgbClr val="26323A"/>
                </a:solidFill>
              </a:rPr>
              <a:t>• Totals, per-capita values, shares and 2019-2023 changes add context.</a:t>
            </a:r>
          </a:p>
        </p:txBody>
      </p:sp>
      <p:sp>
        <p:nvSpPr>
          <p:cNvPr id="25" name="context-divider">
            <a:extLst>
              <a:ext uri="{FF2B5EF4-FFF2-40B4-BE49-F238E27FC236}">
                <a16:creationId xmlns:a16="http://schemas.microsoft.com/office/drawing/2014/main" id="{C9AF6790-74A4-42AD-ABAE-E4528EED11B1}"/>
              </a:ext>
            </a:extLst>
          </p:cNvPr>
          <p:cNvSpPr>
            <a:spLocks noGrp="1"/>
          </p:cNvSpPr>
          <p:nvPr/>
        </p:nvSpPr>
        <p:spPr>
          <a:xfrm>
            <a:off x="12287250" y="4067175"/>
            <a:ext cx="2266950" cy="0"/>
          </a:xfrm>
          <a:prstGeom prst="line">
            <a:avLst/>
          </a:prstGeom>
          <a:noFill/>
          <a:ln w="19050">
            <a:solidFill>
              <a:srgbClr val="D8E0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data-heading">
            <a:extLst>
              <a:ext uri="{FF2B5EF4-FFF2-40B4-BE49-F238E27FC236}">
                <a16:creationId xmlns:a16="http://schemas.microsoft.com/office/drawing/2014/main" id="{F0D2B5C4-4F9C-4629-A542-02693F6A7570}"/>
              </a:ext>
            </a:extLst>
          </p:cNvPr>
          <p:cNvSpPr>
            <a:spLocks noGrp="1"/>
          </p:cNvSpPr>
          <p:nvPr/>
        </p:nvSpPr>
        <p:spPr>
          <a:xfrm>
            <a:off x="12287250" y="4171950"/>
            <a:ext cx="2266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B34700"/>
                </a:solidFill>
              </a:defRPr>
            </a:pPr>
            <a:r>
              <a:rPr sz="1800" b="1">
                <a:solidFill>
                  <a:srgbClr val="B34700"/>
                </a:solidFill>
              </a:rPr>
              <a:t>DATA USED</a:t>
            </a:r>
          </a:p>
        </p:txBody>
      </p:sp>
      <p:sp>
        <p:nvSpPr>
          <p:cNvPr id="27" name="data-emissions">
            <a:extLst>
              <a:ext uri="{FF2B5EF4-FFF2-40B4-BE49-F238E27FC236}">
                <a16:creationId xmlns:a16="http://schemas.microsoft.com/office/drawing/2014/main" id="{8CBBB212-A1ED-468E-B4D7-1E5EDC173F83}"/>
              </a:ext>
            </a:extLst>
          </p:cNvPr>
          <p:cNvSpPr>
            <a:spLocks noGrp="1"/>
          </p:cNvSpPr>
          <p:nvPr/>
        </p:nvSpPr>
        <p:spPr>
          <a:xfrm>
            <a:off x="12287250" y="4524375"/>
            <a:ext cx="2286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 dirty="0">
                <a:solidFill>
                  <a:srgbClr val="26323A"/>
                </a:solidFill>
              </a:rPr>
              <a:t>Emissions</a:t>
            </a:r>
          </a:p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 dirty="0">
                <a:solidFill>
                  <a:srgbClr val="26323A"/>
                </a:solidFill>
              </a:rPr>
              <a:t>Global Carbon Project</a:t>
            </a:r>
          </a:p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 dirty="0">
                <a:solidFill>
                  <a:srgbClr val="26323A"/>
                </a:solidFill>
              </a:rPr>
              <a:t>National Fossil Carbon Emissions 2024 v1.0</a:t>
            </a:r>
          </a:p>
        </p:txBody>
      </p:sp>
      <p:sp>
        <p:nvSpPr>
          <p:cNvPr id="28" name="data-population">
            <a:extLst>
              <a:ext uri="{FF2B5EF4-FFF2-40B4-BE49-F238E27FC236}">
                <a16:creationId xmlns:a16="http://schemas.microsoft.com/office/drawing/2014/main" id="{D469E2B5-59FB-4162-A57E-AC768AA840C6}"/>
              </a:ext>
            </a:extLst>
          </p:cNvPr>
          <p:cNvSpPr>
            <a:spLocks noGrp="1"/>
          </p:cNvSpPr>
          <p:nvPr/>
        </p:nvSpPr>
        <p:spPr>
          <a:xfrm>
            <a:off x="12287250" y="5219700"/>
            <a:ext cx="228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 dirty="0">
                <a:solidFill>
                  <a:srgbClr val="26323A"/>
                </a:solidFill>
              </a:rPr>
              <a:t>Population</a:t>
            </a:r>
          </a:p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 dirty="0">
                <a:solidFill>
                  <a:srgbClr val="26323A"/>
                </a:solidFill>
              </a:rPr>
              <a:t>World Bank SP.POP.TOTL</a:t>
            </a:r>
          </a:p>
        </p:txBody>
      </p:sp>
      <p:sp>
        <p:nvSpPr>
          <p:cNvPr id="29" name="data-gdp">
            <a:extLst>
              <a:ext uri="{FF2B5EF4-FFF2-40B4-BE49-F238E27FC236}">
                <a16:creationId xmlns:a16="http://schemas.microsoft.com/office/drawing/2014/main" id="{84EAF8B0-BC7C-4E68-B2C3-CF36913C6F12}"/>
              </a:ext>
            </a:extLst>
          </p:cNvPr>
          <p:cNvSpPr>
            <a:spLocks noGrp="1"/>
          </p:cNvSpPr>
          <p:nvPr/>
        </p:nvSpPr>
        <p:spPr>
          <a:xfrm>
            <a:off x="12287250" y="5629275"/>
            <a:ext cx="228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 dirty="0">
                <a:solidFill>
                  <a:srgbClr val="26323A"/>
                </a:solidFill>
              </a:rPr>
              <a:t>GDP</a:t>
            </a:r>
          </a:p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 dirty="0">
                <a:solidFill>
                  <a:srgbClr val="26323A"/>
                </a:solidFill>
              </a:rPr>
              <a:t>World Bank NY.GDP.MKTP.CD</a:t>
            </a:r>
          </a:p>
        </p:txBody>
      </p:sp>
      <p:sp>
        <p:nvSpPr>
          <p:cNvPr id="30" name="gdp-interpretation">
            <a:extLst>
              <a:ext uri="{FF2B5EF4-FFF2-40B4-BE49-F238E27FC236}">
                <a16:creationId xmlns:a16="http://schemas.microsoft.com/office/drawing/2014/main" id="{E932DB87-F094-4694-8C3C-EF781D36A277}"/>
              </a:ext>
            </a:extLst>
          </p:cNvPr>
          <p:cNvSpPr>
            <a:spLocks noGrp="1"/>
          </p:cNvSpPr>
          <p:nvPr/>
        </p:nvSpPr>
        <p:spPr>
          <a:xfrm>
            <a:off x="12287250" y="6038850"/>
            <a:ext cx="2286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D6971"/>
                </a:solidFill>
              </a:defRPr>
            </a:pPr>
            <a:r>
              <a:rPr sz="1200" b="0">
                <a:solidFill>
                  <a:srgbClr val="5D6971"/>
                </a:solidFill>
              </a:rPr>
              <a:t>Nominal current-price context only; not real growth or causation.</a:t>
            </a:r>
          </a:p>
        </p:txBody>
      </p:sp>
      <p:sp>
        <p:nvSpPr>
          <p:cNvPr id="31" name="design-brief-surface">
            <a:extLst>
              <a:ext uri="{FF2B5EF4-FFF2-40B4-BE49-F238E27FC236}">
                <a16:creationId xmlns:a16="http://schemas.microsoft.com/office/drawing/2014/main" id="{A907F6A4-85B6-4A7F-A19B-75FCE59248A6}"/>
              </a:ext>
            </a:extLst>
          </p:cNvPr>
          <p:cNvSpPr>
            <a:spLocks noGrp="1"/>
          </p:cNvSpPr>
          <p:nvPr/>
        </p:nvSpPr>
        <p:spPr>
          <a:xfrm>
            <a:off x="476250" y="6781800"/>
            <a:ext cx="14287500" cy="1504950"/>
          </a:xfrm>
          <a:prstGeom prst="roundRect">
            <a:avLst>
              <a:gd name="adj" fmla="val 5063"/>
            </a:avLst>
          </a:prstGeom>
          <a:solidFill>
            <a:srgbClr val="EAF3F8"/>
          </a:solidFill>
          <a:ln w="9525">
            <a:solidFill>
              <a:srgbClr val="B8D4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design-brief-heading">
            <a:extLst>
              <a:ext uri="{FF2B5EF4-FFF2-40B4-BE49-F238E27FC236}">
                <a16:creationId xmlns:a16="http://schemas.microsoft.com/office/drawing/2014/main" id="{9F70041F-ADF4-40E8-A3DD-C8866294561F}"/>
              </a:ext>
            </a:extLst>
          </p:cNvPr>
          <p:cNvSpPr>
            <a:spLocks noGrp="1"/>
          </p:cNvSpPr>
          <p:nvPr/>
        </p:nvSpPr>
        <p:spPr>
          <a:xfrm>
            <a:off x="666750" y="6867525"/>
            <a:ext cx="28575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0072B2"/>
                </a:solidFill>
              </a:defRPr>
            </a:pPr>
            <a:r>
              <a:rPr sz="1800" b="1">
                <a:solidFill>
                  <a:srgbClr val="0072B2"/>
                </a:solidFill>
              </a:rPr>
              <a:t>DESIGN BRIEF</a:t>
            </a:r>
          </a:p>
        </p:txBody>
      </p:sp>
      <p:sp>
        <p:nvSpPr>
          <p:cNvPr id="33" name="design-brief-audience">
            <a:extLst>
              <a:ext uri="{FF2B5EF4-FFF2-40B4-BE49-F238E27FC236}">
                <a16:creationId xmlns:a16="http://schemas.microsoft.com/office/drawing/2014/main" id="{E794E44D-05BE-4606-980E-823BDBC3A37F}"/>
              </a:ext>
            </a:extLst>
          </p:cNvPr>
          <p:cNvSpPr>
            <a:spLocks noGrp="1"/>
          </p:cNvSpPr>
          <p:nvPr/>
        </p:nvSpPr>
        <p:spPr>
          <a:xfrm>
            <a:off x="666750" y="7153275"/>
            <a:ext cx="71437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>
                <a:solidFill>
                  <a:srgbClr val="26323A"/>
                </a:solidFill>
              </a:rPr>
              <a:t>This redesign is intended for general readers of climate news who want to compare how the largest-emitting countries contribute to global fossil CO₂ emissions. It supports comparisons of national totals and per-capita emissions, showing contributions and population-adjusted differences. The five highest emitters in 2023 are shown because together they produced about 60% of global fossil CO₂ emissions. This keeps the comparison compact without hiding differences inside aggregated regional categories.</a:t>
            </a:r>
          </a:p>
        </p:txBody>
      </p:sp>
      <p:sp>
        <p:nvSpPr>
          <p:cNvPr id="34" name="brief-column-divider">
            <a:extLst>
              <a:ext uri="{FF2B5EF4-FFF2-40B4-BE49-F238E27FC236}">
                <a16:creationId xmlns:a16="http://schemas.microsoft.com/office/drawing/2014/main" id="{DA79E8F1-A9D2-4647-8A45-4910A0E588B5}"/>
              </a:ext>
            </a:extLst>
          </p:cNvPr>
          <p:cNvSpPr>
            <a:spLocks noGrp="1"/>
          </p:cNvSpPr>
          <p:nvPr/>
        </p:nvSpPr>
        <p:spPr>
          <a:xfrm>
            <a:off x="8058150" y="6953250"/>
            <a:ext cx="19050" cy="1181100"/>
          </a:xfrm>
          <a:prstGeom prst="rect">
            <a:avLst/>
          </a:prstGeom>
          <a:solidFill>
            <a:srgbClr val="B8D4E3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main-revisions-heading">
            <a:extLst>
              <a:ext uri="{FF2B5EF4-FFF2-40B4-BE49-F238E27FC236}">
                <a16:creationId xmlns:a16="http://schemas.microsoft.com/office/drawing/2014/main" id="{BE55EB57-41FB-4943-AFE3-5585C6BA7B2F}"/>
              </a:ext>
            </a:extLst>
          </p:cNvPr>
          <p:cNvSpPr>
            <a:spLocks noGrp="1"/>
          </p:cNvSpPr>
          <p:nvPr/>
        </p:nvSpPr>
        <p:spPr>
          <a:xfrm>
            <a:off x="8334375" y="6867525"/>
            <a:ext cx="6143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83B56"/>
                </a:solidFill>
              </a:defRPr>
            </a:pPr>
            <a:r>
              <a:rPr sz="1350" b="1">
                <a:solidFill>
                  <a:srgbClr val="183B56"/>
                </a:solidFill>
              </a:rPr>
              <a:t>Main revisions</a:t>
            </a:r>
          </a:p>
        </p:txBody>
      </p:sp>
      <p:sp>
        <p:nvSpPr>
          <p:cNvPr id="36" name="brief-item-1">
            <a:extLst>
              <a:ext uri="{FF2B5EF4-FFF2-40B4-BE49-F238E27FC236}">
                <a16:creationId xmlns:a16="http://schemas.microsoft.com/office/drawing/2014/main" id="{1A8B18F2-753B-4108-BAFD-3D0C19CB8764}"/>
              </a:ext>
            </a:extLst>
          </p:cNvPr>
          <p:cNvSpPr>
            <a:spLocks noGrp="1"/>
          </p:cNvSpPr>
          <p:nvPr/>
        </p:nvSpPr>
        <p:spPr>
          <a:xfrm>
            <a:off x="8334375" y="7067550"/>
            <a:ext cx="6143625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>
                <a:solidFill>
                  <a:srgbClr val="26323A"/>
                </a:solidFill>
              </a:rPr>
              <a:t>• Focus on the five highest-emitting countries for direct comparison</a:t>
            </a:r>
          </a:p>
        </p:txBody>
      </p:sp>
      <p:sp>
        <p:nvSpPr>
          <p:cNvPr id="37" name="brief-item-2">
            <a:extLst>
              <a:ext uri="{FF2B5EF4-FFF2-40B4-BE49-F238E27FC236}">
                <a16:creationId xmlns:a16="http://schemas.microsoft.com/office/drawing/2014/main" id="{89419B57-F613-419B-9936-5F5E475498C6}"/>
              </a:ext>
            </a:extLst>
          </p:cNvPr>
          <p:cNvSpPr>
            <a:spLocks noGrp="1"/>
          </p:cNvSpPr>
          <p:nvPr/>
        </p:nvSpPr>
        <p:spPr>
          <a:xfrm>
            <a:off x="8334375" y="7267575"/>
            <a:ext cx="6143625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>
                <a:solidFill>
                  <a:srgbClr val="26323A"/>
                </a:solidFill>
              </a:rPr>
              <a:t>• Use a sparkline summary table to separate historical trends</a:t>
            </a:r>
          </a:p>
        </p:txBody>
      </p:sp>
      <p:sp>
        <p:nvSpPr>
          <p:cNvPr id="38" name="brief-item-3">
            <a:extLst>
              <a:ext uri="{FF2B5EF4-FFF2-40B4-BE49-F238E27FC236}">
                <a16:creationId xmlns:a16="http://schemas.microsoft.com/office/drawing/2014/main" id="{541613F4-D73D-49EA-905A-C937A564B748}"/>
              </a:ext>
            </a:extLst>
          </p:cNvPr>
          <p:cNvSpPr>
            <a:spLocks noGrp="1"/>
          </p:cNvSpPr>
          <p:nvPr/>
        </p:nvSpPr>
        <p:spPr>
          <a:xfrm>
            <a:off x="8334375" y="7467600"/>
            <a:ext cx="61436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>
                <a:solidFill>
                  <a:srgbClr val="26323A"/>
                </a:solidFill>
              </a:rPr>
              <a:t>• Pair trends with totals, per-capita values, global share, and emissions and nominal GDP changes from 2019 to 2023</a:t>
            </a:r>
          </a:p>
        </p:txBody>
      </p:sp>
      <p:sp>
        <p:nvSpPr>
          <p:cNvPr id="39" name="brief-item-4">
            <a:extLst>
              <a:ext uri="{FF2B5EF4-FFF2-40B4-BE49-F238E27FC236}">
                <a16:creationId xmlns:a16="http://schemas.microsoft.com/office/drawing/2014/main" id="{F92F00F2-B48C-4C4A-9AF1-2D58398CB386}"/>
              </a:ext>
            </a:extLst>
          </p:cNvPr>
          <p:cNvSpPr>
            <a:spLocks noGrp="1"/>
          </p:cNvSpPr>
          <p:nvPr/>
        </p:nvSpPr>
        <p:spPr>
          <a:xfrm>
            <a:off x="8334375" y="7829550"/>
            <a:ext cx="6143625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>
                <a:solidFill>
                  <a:srgbClr val="26323A"/>
                </a:solidFill>
              </a:rPr>
              <a:t>• Apply distinct Okabe–Ito colours with direct country labels</a:t>
            </a:r>
          </a:p>
        </p:txBody>
      </p:sp>
      <p:sp>
        <p:nvSpPr>
          <p:cNvPr id="40" name="brief-item-5">
            <a:extLst>
              <a:ext uri="{FF2B5EF4-FFF2-40B4-BE49-F238E27FC236}">
                <a16:creationId xmlns:a16="http://schemas.microsoft.com/office/drawing/2014/main" id="{65207A74-7247-4067-92EC-FF1656AD8C19}"/>
              </a:ext>
            </a:extLst>
          </p:cNvPr>
          <p:cNvSpPr>
            <a:spLocks noGrp="1"/>
          </p:cNvSpPr>
          <p:nvPr/>
        </p:nvSpPr>
        <p:spPr>
          <a:xfrm>
            <a:off x="8334375" y="8029575"/>
            <a:ext cx="6143625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>
                <a:solidFill>
                  <a:srgbClr val="26323A"/>
                </a:solidFill>
              </a:rPr>
              <a:t>• Encode increases and decreases with arrows, signs, and blue/orange styling</a:t>
            </a:r>
          </a:p>
        </p:txBody>
      </p:sp>
      <p:sp>
        <p:nvSpPr>
          <p:cNvPr id="41" name="footer-source">
            <a:extLst>
              <a:ext uri="{FF2B5EF4-FFF2-40B4-BE49-F238E27FC236}">
                <a16:creationId xmlns:a16="http://schemas.microsoft.com/office/drawing/2014/main" id="{27DEA7E4-E67E-44DF-918F-E24922A2808E}"/>
              </a:ext>
            </a:extLst>
          </p:cNvPr>
          <p:cNvSpPr>
            <a:spLocks noGrp="1"/>
          </p:cNvSpPr>
          <p:nvPr/>
        </p:nvSpPr>
        <p:spPr>
          <a:xfrm>
            <a:off x="495300" y="8324850"/>
            <a:ext cx="7620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D6971"/>
                </a:solidFill>
              </a:defRPr>
            </a:pPr>
            <a:r>
              <a:rPr sz="1200" b="0">
                <a:solidFill>
                  <a:srgbClr val="5D6971"/>
                </a:solidFill>
              </a:rPr>
              <a:t>Carbon Brief · Global Carbon Project · World Bank</a:t>
            </a:r>
          </a:p>
        </p:txBody>
      </p:sp>
      <p:sp>
        <p:nvSpPr>
          <p:cNvPr id="42" name="footer-team">
            <a:extLst>
              <a:ext uri="{FF2B5EF4-FFF2-40B4-BE49-F238E27FC236}">
                <a16:creationId xmlns:a16="http://schemas.microsoft.com/office/drawing/2014/main" id="{18262459-389B-4187-ACB9-6D50A32D75BF}"/>
              </a:ext>
            </a:extLst>
          </p:cNvPr>
          <p:cNvSpPr>
            <a:spLocks noGrp="1"/>
          </p:cNvSpPr>
          <p:nvPr/>
        </p:nvSpPr>
        <p:spPr>
          <a:xfrm>
            <a:off x="12573000" y="8324850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200" b="1">
                <a:solidFill>
                  <a:srgbClr val="183B56"/>
                </a:solidFill>
              </a:defRPr>
            </a:pPr>
            <a:r>
              <a:rPr sz="1200" b="1">
                <a:solidFill>
                  <a:srgbClr val="183B56"/>
                </a:solidFill>
              </a:rPr>
              <a:t>TEAM SLATEBLUE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4DC8CC8D-7A04-E0F6-2D3F-BEBB250715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9405" y="1819275"/>
            <a:ext cx="5969940" cy="4810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350091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450</Words>
  <Application>Microsoft Office PowerPoint</Application>
  <DocSecurity>0</DocSecurity>
  <PresentationFormat>Custom</PresentationFormat>
  <Paragraphs>45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Calibri</vt:lpstr>
      <vt:lpstr>ChatGPT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TAN JUN KIAT</cp:lastModifiedBy>
  <cp:revision>5</cp:revision>
  <dcterms:created xsi:type="dcterms:W3CDTF">2026-07-24T15:54:34Z</dcterms:created>
  <dcterms:modified xsi:type="dcterms:W3CDTF">2026-07-28T03:58:41Z</dcterms:modified>
</cp:coreProperties>
</file>