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4e06a3d16343eb" /><Relationship Type="http://schemas.openxmlformats.org/officeDocument/2006/relationships/extended-properties" Target="/docProps/app.xml" Id="Rd59be3e6ccb14f08" /><Relationship Type="http://schemas.openxmlformats.org/officeDocument/2006/relationships/officeDocument" Target="/ppt/presentation.xml" Id="Ra0ba0f2d6426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7312ab111e459b"/>
  </p:sldMasterIdLst>
  <p:notesMasterIdLst>
    <p:notesMasterId xmlns:r="http://schemas.openxmlformats.org/officeDocument/2006/relationships" r:id="Re4431aa7244846f2"/>
  </p:notesMasterIdLst>
  <p:sldIdLst>
    <p:sldId xmlns:r="http://schemas.openxmlformats.org/officeDocument/2006/relationships" id="256" r:id="R2b4f7f1a5f924c7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f2596f5bb84537" /><Relationship Type="http://schemas.openxmlformats.org/officeDocument/2006/relationships/slideMaster" Target="/ppt/slideMasters/slideMaster1.xml" Id="R6a7312ab111e459b" /><Relationship Type="http://schemas.openxmlformats.org/officeDocument/2006/relationships/notesMaster" Target="/ppt/notesMasters/notesMaster1.xml" Id="Re4431aa7244846f2" /><Relationship Type="http://schemas.openxmlformats.org/officeDocument/2006/relationships/presProps" Target="/ppt/presProps.xml" Id="R99126449d2764dda" /><Relationship Type="http://schemas.openxmlformats.org/officeDocument/2006/relationships/tableStyles" Target="/ppt/tableStyles.xml" Id="Rb57060a48a9b4262" /><Relationship Type="http://schemas.openxmlformats.org/officeDocument/2006/relationships/slide" Target="/ppt/slides/slide1.xml" Id="R2b4f7f1a5f92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779dd8769b41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d6c5235688444b" /><Relationship Type="http://schemas.openxmlformats.org/officeDocument/2006/relationships/notesMaster" Target="/ppt/notesMasters/notesMaster1.xml" Id="R0cf2d04ba4f5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visualization and article: https://www.carbonbrief.org/analysis-global-co2-emissions-will-reach-new-high-in-2024-despite-slower-growth/</a:t>
            </a:r>
          </a:p>
          <a:p xmlns:a="http://schemas.openxmlformats.org/drawingml/2006/main">
            <a:r>
              <a:t>Global Carbon Project, National Fossil Carbon Emissions 2024 v1.0: https://globalcarbonbudget.org/gcb-2024/</a:t>
            </a:r>
          </a:p>
          <a:p xmlns:a="http://schemas.openxmlformats.org/drawingml/2006/main">
            <a:r>
              <a:t>World Bank population indicator SP.POP.TOTL: https://data.worldbank.org/indicator/SP.POP.TOTL</a:t>
            </a:r>
          </a:p>
          <a:p xmlns:a="http://schemas.openxmlformats.org/drawingml/2006/main">
            <a:r>
              <a:t>World Bank GDP (current US$) indicator NY.GDP.MKTP.CD: https://data.worldbank.org/indicator/NY.GDP.MKTP.CD</a:t>
            </a:r>
          </a:p>
          <a:p xmlns:a="http://schemas.openxmlformats.org/drawingml/2006/main">
            <a:r>
              <a:t>Improved visualization: user-provided project output generated from the cited datasets.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6ae945f6940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d60a1d9dfb44aa" /><Relationship Type="http://schemas.openxmlformats.org/officeDocument/2006/relationships/slideLayout" Target="/ppt/slideLayouts/slideLayout1.xml" Id="R4f0678ec7ade48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0678ec7ade48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99c07f8c04c34" /><Relationship Type="http://schemas.openxmlformats.org/officeDocument/2006/relationships/image" Target="/ppt/media/image.png" Id="Ra81fabb25d964a73" /><Relationship Type="http://schemas.openxmlformats.org/officeDocument/2006/relationships/image" Target="/ppt/media/image.jpeg" Id="R631864a955624118" /><Relationship Type="http://schemas.openxmlformats.org/officeDocument/2006/relationships/notesSlide" Target="/ppt/notesSlides/notesSlide1.xml" Id="Ra1eb56c90c8b45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oster-eyebrow">
            <a:extLst xmlns:a="http://schemas.openxmlformats.org/drawingml/2006/main">
              <a:ext uri="{FF2B5EF4-FFF2-40B4-BE49-F238E27FC236}">
                <a16:creationId xmlns:a16="http://schemas.microsoft.com/office/drawing/2014/main" id="{E08A73F4-AF3B-4FB9-9199-6E75EBE5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2B2"/>
                </a:solidFill>
              </a:defRPr>
            </a:pPr>
            <a:r>
              <a:rPr sz="1200" b="1">
                <a:solidFill>
                  <a:srgbClr val="0072B2"/>
                </a:solidFill>
              </a:rPr>
              <a:t>INFORMATION VISUALIZATION REDESIGN</a:t>
            </a:r>
          </a:p>
        </p:txBody>
      </p:sp>
      <p:sp>
        <p:nvSpPr>
          <p:cNvPr id="2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E8B61170-807C-41C5-A9C3-D1CB68BC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"/>
            <a:ext cx="1133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83B56"/>
                </a:solidFill>
              </a:defRPr>
            </a:pPr>
            <a:r>
              <a:rPr sz="3750" b="1">
                <a:solidFill>
                  <a:srgbClr val="183B56"/>
                </a:solidFill>
              </a:rPr>
              <a:t>Global fossil CO₂ emissions, unstacked</a:t>
            </a:r>
          </a:p>
        </p:txBody>
      </p:sp>
      <p:sp>
        <p:nvSpPr>
          <p:cNvPr id="3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2A870308-500A-4C5D-8D3A-3876E006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962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971"/>
                </a:solidFill>
              </a:defRPr>
            </a:pPr>
            <a:r>
              <a:rPr sz="1500" b="0">
                <a:solidFill>
                  <a:srgbClr val="5D6971"/>
                </a:solidFill>
              </a:rPr>
              <a:t>A comparison-first redesign for general readers of climate news</a:t>
            </a:r>
          </a:p>
        </p:txBody>
      </p:sp>
      <p:sp>
        <p:nvSpPr>
          <p:cNvPr id="4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090F4A22-E112-478E-A19E-78AB5EA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810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TEAM SLATEBLUE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CSC3107 INFORMATION VISUALIZATION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721218B-854A-49AE-BF77-AC9B17BD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28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83B56"/>
            </a:solidFill>
            <a:prstDash val="solid"/>
          </a:ln>
        </p:spPr>
      </p:sp>
      <p:sp>
        <p:nvSpPr>
          <p:cNvPr id="6" name="original-heading">
            <a:extLst xmlns:a="http://schemas.openxmlformats.org/drawingml/2006/main">
              <a:ext uri="{FF2B5EF4-FFF2-40B4-BE49-F238E27FC236}">
                <a16:creationId xmlns:a16="http://schemas.microsoft.com/office/drawing/2014/main" id="{D7845612-A309-4213-A447-45EE0BDE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6"/>
                </a:solidFill>
              </a:defRPr>
            </a:pPr>
            <a:r>
              <a:rPr sz="1800" b="1">
                <a:solidFill>
                  <a:srgbClr val="183B56"/>
                </a:solidFill>
              </a:rPr>
              <a:t>1  ORIGINAL VISUALIZATION</a:t>
            </a:r>
          </a:p>
        </p:txBody>
      </p:sp>
      <p:sp>
        <p:nvSpPr>
          <p:cNvPr id="7" name="original-image-frame">
            <a:extLst xmlns:a="http://schemas.openxmlformats.org/drawingml/2006/main">
              <a:ext uri="{FF2B5EF4-FFF2-40B4-BE49-F238E27FC236}">
                <a16:creationId xmlns:a16="http://schemas.microsoft.com/office/drawing/2014/main" id="{9868A52F-0F2B-4F93-B202-28AFDC7E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4000500" cy="242887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fabb25d964a73"/>
          <a:stretch xmlns:a="http://schemas.openxmlformats.org/drawingml/2006/main"/>
        </p:blipFill>
        <p:spPr>
          <a:xfrm xmlns:a="http://schemas.openxmlformats.org/drawingml/2006/main">
            <a:off x="854751" y="1876425"/>
            <a:ext cx="3243498" cy="2257425"/>
          </a:xfrm>
          <a:prstGeom xmlns:a="http://schemas.openxmlformats.org/drawingml/2006/main" prst="rect">
            <a:avLst/>
          </a:prstGeom>
        </p:spPr>
      </p:pic>
      <p:sp>
        <p:nvSpPr>
          <p:cNvPr id="9" name="original-credit">
            <a:extLst xmlns:a="http://schemas.openxmlformats.org/drawingml/2006/main">
              <a:ext uri="{FF2B5EF4-FFF2-40B4-BE49-F238E27FC236}">
                <a16:creationId xmlns:a16="http://schemas.microsoft.com/office/drawing/2014/main" id="{6C8419D4-7B52-40D4-A637-322E2D4D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3924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1"/>
                </a:solidFill>
              </a:defRPr>
            </a:pPr>
            <a:r>
              <a:rPr sz="1200" b="0">
                <a:solidFill>
                  <a:srgbClr val="5D6971"/>
                </a:solidFill>
              </a:rPr>
              <a:t>Credit: Carbon Brief (2024)</a:t>
            </a:r>
          </a:p>
          <a:p xmlns:a="http://schemas.openxmlformats.org/drawingml/2006/main">
            <a:pPr algn="l">
              <a:defRPr sz="1200" b="0">
                <a:solidFill>
                  <a:srgbClr val="5D6971"/>
                </a:solidFill>
              </a:defRPr>
            </a:pPr>
            <a:r>
              <a:rPr sz="1200" b="0">
                <a:solidFill>
                  <a:srgbClr val="5D6971"/>
                </a:solidFill>
              </a:rPr>
              <a:t>Data: Global Carbon Project</a:t>
            </a:r>
          </a:p>
        </p:txBody>
      </p:sp>
      <p:sp>
        <p:nvSpPr>
          <p:cNvPr id="10" name="left-divider">
            <a:extLst xmlns:a="http://schemas.openxmlformats.org/drawingml/2006/main">
              <a:ext uri="{FF2B5EF4-FFF2-40B4-BE49-F238E27FC236}">
                <a16:creationId xmlns:a16="http://schemas.microsoft.com/office/drawing/2014/main" id="{84BA1672-618F-4A5D-AA17-2AD159FA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4700"/>
            </a:solidFill>
            <a:prstDash val="solid"/>
          </a:ln>
        </p:spPr>
      </p:sp>
      <p:sp>
        <p:nvSpPr>
          <p:cNvPr id="11" name="critique-heading">
            <a:extLst xmlns:a="http://schemas.openxmlformats.org/drawingml/2006/main">
              <a:ext uri="{FF2B5EF4-FFF2-40B4-BE49-F238E27FC236}">
                <a16:creationId xmlns:a16="http://schemas.microsoft.com/office/drawing/2014/main" id="{2C358AD1-F061-41A0-A616-AD9065AE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6"/>
                </a:solidFill>
              </a:defRPr>
            </a:pPr>
            <a:r>
              <a:rPr sz="1800" b="1">
                <a:solidFill>
                  <a:srgbClr val="183B56"/>
                </a:solidFill>
              </a:rPr>
              <a:t>2  WHAT LIMITS COMPARISON?</a:t>
            </a:r>
          </a:p>
        </p:txBody>
      </p:sp>
      <p:sp>
        <p:nvSpPr>
          <p:cNvPr id="12" name="critique-item-1">
            <a:extLst xmlns:a="http://schemas.openxmlformats.org/drawingml/2006/main">
              <a:ext uri="{FF2B5EF4-FFF2-40B4-BE49-F238E27FC236}">
                <a16:creationId xmlns:a16="http://schemas.microsoft.com/office/drawing/2014/main" id="{54BEEE7E-810E-4B36-B263-15F8038F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Only the bottom layer has a stable baseline; other values require subtracting moving boundaries.</a:t>
            </a:r>
          </a:p>
        </p:txBody>
      </p:sp>
      <p:sp>
        <p:nvSpPr>
          <p:cNvPr id="13" name="critique-item-2">
            <a:extLst xmlns:a="http://schemas.openxmlformats.org/drawingml/2006/main">
              <a:ext uri="{FF2B5EF4-FFF2-40B4-BE49-F238E27FC236}">
                <a16:creationId xmlns:a16="http://schemas.microsoft.com/office/drawing/2014/main" id="{28654507-EED0-43F0-9D5A-6768F6B9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Similar blue tints and a distant legend increase identification effort.</a:t>
            </a:r>
          </a:p>
        </p:txBody>
      </p:sp>
      <p:sp>
        <p:nvSpPr>
          <p:cNvPr id="14" name="critique-item-3">
            <a:extLst xmlns:a="http://schemas.openxmlformats.org/drawingml/2006/main">
              <a:ext uri="{FF2B5EF4-FFF2-40B4-BE49-F238E27FC236}">
                <a16:creationId xmlns:a16="http://schemas.microsoft.com/office/drawing/2014/main" id="{A8E35460-0C76-49E7-8113-054A4DD2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Countries are mixed with the EU and “Rest of world” aggregates.</a:t>
            </a:r>
          </a:p>
        </p:txBody>
      </p:sp>
      <p:sp>
        <p:nvSpPr>
          <p:cNvPr id="15" name="critique-item-4">
            <a:extLst xmlns:a="http://schemas.openxmlformats.org/drawingml/2006/main">
              <a:ext uri="{FF2B5EF4-FFF2-40B4-BE49-F238E27FC236}">
                <a16:creationId xmlns:a16="http://schemas.microsoft.com/office/drawing/2014/main" id="{FF747383-EB2D-4FE0-B3C8-9F0265A7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Total-only values omit population-adjusted context.</a:t>
            </a:r>
          </a:p>
        </p:txBody>
      </p:sp>
      <p:sp>
        <p:nvSpPr>
          <p:cNvPr id="16" name="improved-heading">
            <a:extLst xmlns:a="http://schemas.openxmlformats.org/drawingml/2006/main">
              <a:ext uri="{FF2B5EF4-FFF2-40B4-BE49-F238E27FC236}">
                <a16:creationId xmlns:a16="http://schemas.microsoft.com/office/drawing/2014/main" id="{028ADC3E-E420-4598-8203-10515871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382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B56"/>
                </a:solidFill>
              </a:defRPr>
            </a:pPr>
            <a:r>
              <a:rPr sz="2100" b="1">
                <a:solidFill>
                  <a:srgbClr val="183B56"/>
                </a:solidFill>
              </a:rPr>
              <a:t>3  IMPROVED VISUALIZATION</a:t>
            </a:r>
          </a:p>
        </p:txBody>
      </p:sp>
      <p:sp>
        <p:nvSpPr>
          <p:cNvPr id="17" name="improved-image-frame">
            <a:extLst xmlns:a="http://schemas.openxmlformats.org/drawingml/2006/main">
              <a:ext uri="{FF2B5EF4-FFF2-40B4-BE49-F238E27FC236}">
                <a16:creationId xmlns:a16="http://schemas.microsoft.com/office/drawing/2014/main" id="{90F028F8-7D50-4E87-ACB1-2203FBCF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71437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864a955624118"/>
          <a:stretch xmlns:a="http://schemas.openxmlformats.org/drawingml/2006/main"/>
        </p:blipFill>
        <p:spPr>
          <a:xfrm xmlns:a="http://schemas.openxmlformats.org/drawingml/2006/main">
            <a:off x="5032093" y="1885950"/>
            <a:ext cx="6604564" cy="4667250"/>
          </a:xfrm>
          <a:prstGeom xmlns:a="http://schemas.openxmlformats.org/drawingml/2006/main" prst="rect">
            <a:avLst/>
          </a:prstGeom>
        </p:spPr>
      </p:pic>
      <p:sp>
        <p:nvSpPr>
          <p:cNvPr id="19" name="right-context-surface">
            <a:extLst xmlns:a="http://schemas.openxmlformats.org/drawingml/2006/main">
              <a:ext uri="{FF2B5EF4-FFF2-40B4-BE49-F238E27FC236}">
                <a16:creationId xmlns:a16="http://schemas.microsoft.com/office/drawing/2014/main" id="{84E17126-4A42-4FF3-9F8E-2722F64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38275"/>
            <a:ext cx="2667000" cy="5210175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0" name="redesign-heading">
            <a:extLst xmlns:a="http://schemas.openxmlformats.org/drawingml/2006/main">
              <a:ext uri="{FF2B5EF4-FFF2-40B4-BE49-F238E27FC236}">
                <a16:creationId xmlns:a16="http://schemas.microsoft.com/office/drawing/2014/main" id="{74F50EA3-E7A0-43C9-9346-B545829B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60972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2B2"/>
                </a:solidFill>
              </a:defRPr>
            </a:pPr>
            <a:r>
              <a:rPr sz="1800" b="1">
                <a:solidFill>
                  <a:srgbClr val="0072B2"/>
                </a:solidFill>
              </a:rPr>
              <a:t>WHY THE REDESIGN WORKS</a:t>
            </a:r>
          </a:p>
        </p:txBody>
      </p:sp>
      <p:sp>
        <p:nvSpPr>
          <p:cNvPr id="21" name="redesign-item-1">
            <a:extLst xmlns:a="http://schemas.openxmlformats.org/drawingml/2006/main">
              <a:ext uri="{FF2B5EF4-FFF2-40B4-BE49-F238E27FC236}">
                <a16:creationId xmlns:a16="http://schemas.microsoft.com/office/drawing/2014/main" id="{3E3B26D5-EEF7-4CFB-A635-FD58A200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162175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Separate sparklines remove stacked-boundary estimation.</a:t>
            </a:r>
          </a:p>
        </p:txBody>
      </p:sp>
      <p:sp>
        <p:nvSpPr>
          <p:cNvPr id="22" name="redesign-item-2">
            <a:extLst xmlns:a="http://schemas.openxmlformats.org/drawingml/2006/main">
              <a:ext uri="{FF2B5EF4-FFF2-40B4-BE49-F238E27FC236}">
                <a16:creationId xmlns:a16="http://schemas.microsoft.com/office/drawing/2014/main" id="{0346C853-5271-4D29-BE11-CDB38807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600325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Direct labels and Okabe–Ito colours speed identification.</a:t>
            </a:r>
          </a:p>
        </p:txBody>
      </p:sp>
      <p:sp>
        <p:nvSpPr>
          <p:cNvPr id="23" name="redesign-item-3">
            <a:extLst xmlns:a="http://schemas.openxmlformats.org/drawingml/2006/main">
              <a:ext uri="{FF2B5EF4-FFF2-40B4-BE49-F238E27FC236}">
                <a16:creationId xmlns:a16="http://schemas.microsoft.com/office/drawing/2014/main" id="{AE473FA0-362D-4D9D-9BC1-FA5BE610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038475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Country-only rows support like-for-like comparison.</a:t>
            </a:r>
          </a:p>
        </p:txBody>
      </p:sp>
      <p:sp>
        <p:nvSpPr>
          <p:cNvPr id="24" name="redesign-item-4">
            <a:extLst xmlns:a="http://schemas.openxmlformats.org/drawingml/2006/main">
              <a:ext uri="{FF2B5EF4-FFF2-40B4-BE49-F238E27FC236}">
                <a16:creationId xmlns:a16="http://schemas.microsoft.com/office/drawing/2014/main" id="{28D55F55-6A55-4537-BB84-1B39534A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476625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Totals, per-capita values, shares and 2019-2023 changes add context.</a:t>
            </a:r>
          </a:p>
        </p:txBody>
      </p:sp>
      <p:sp>
        <p:nvSpPr>
          <p:cNvPr id="25" name="context-divider">
            <a:extLst xmlns:a="http://schemas.openxmlformats.org/drawingml/2006/main">
              <a:ext uri="{FF2B5EF4-FFF2-40B4-BE49-F238E27FC236}">
                <a16:creationId xmlns:a16="http://schemas.microsoft.com/office/drawing/2014/main" id="{C9AF6790-74A4-42AD-ABAE-E4528EED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0671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26" name="data-heading">
            <a:extLst xmlns:a="http://schemas.openxmlformats.org/drawingml/2006/main">
              <a:ext uri="{FF2B5EF4-FFF2-40B4-BE49-F238E27FC236}">
                <a16:creationId xmlns:a16="http://schemas.microsoft.com/office/drawing/2014/main" id="{F0D2B5C4-4F9C-4629-A542-02693F6A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1719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34700"/>
                </a:solidFill>
              </a:defRPr>
            </a:pPr>
            <a:r>
              <a:rPr sz="1800" b="1">
                <a:solidFill>
                  <a:srgbClr val="B34700"/>
                </a:solidFill>
              </a:rPr>
              <a:t>DATA USED</a:t>
            </a:r>
          </a:p>
        </p:txBody>
      </p:sp>
      <p:sp>
        <p:nvSpPr>
          <p:cNvPr id="27" name="data-emissions">
            <a:extLst xmlns:a="http://schemas.openxmlformats.org/drawingml/2006/main">
              <a:ext uri="{FF2B5EF4-FFF2-40B4-BE49-F238E27FC236}">
                <a16:creationId xmlns:a16="http://schemas.microsoft.com/office/drawing/2014/main" id="{8CBBB212-A1ED-468E-B4D7-1E5EDC17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52437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Emissions</a:t>
            </a:r>
          </a:p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Global Carbon Project</a:t>
            </a:r>
          </a:p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National Fossil Carbon Emissions 2024 v1.0</a:t>
            </a:r>
          </a:p>
        </p:txBody>
      </p:sp>
      <p:sp>
        <p:nvSpPr>
          <p:cNvPr id="28" name="data-population">
            <a:extLst xmlns:a="http://schemas.openxmlformats.org/drawingml/2006/main">
              <a:ext uri="{FF2B5EF4-FFF2-40B4-BE49-F238E27FC236}">
                <a16:creationId xmlns:a16="http://schemas.microsoft.com/office/drawing/2014/main" id="{D469E2B5-59FB-4162-A57E-AC768AA8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219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Population</a:t>
            </a:r>
          </a:p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World Bank SP.POP.TOTL</a:t>
            </a:r>
          </a:p>
        </p:txBody>
      </p:sp>
      <p:sp>
        <p:nvSpPr>
          <p:cNvPr id="29" name="data-gdp">
            <a:extLst xmlns:a="http://schemas.openxmlformats.org/drawingml/2006/main">
              <a:ext uri="{FF2B5EF4-FFF2-40B4-BE49-F238E27FC236}">
                <a16:creationId xmlns:a16="http://schemas.microsoft.com/office/drawing/2014/main" id="{84EAF8B0-BC7C-4E68-B2C3-CF36913C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6292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GDP</a:t>
            </a:r>
          </a:p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World Bank NY.GDP.MKTP.CD</a:t>
            </a:r>
          </a:p>
        </p:txBody>
      </p:sp>
      <p:sp>
        <p:nvSpPr>
          <p:cNvPr id="30" name="gdp-interpretation">
            <a:extLst xmlns:a="http://schemas.openxmlformats.org/drawingml/2006/main">
              <a:ext uri="{FF2B5EF4-FFF2-40B4-BE49-F238E27FC236}">
                <a16:creationId xmlns:a16="http://schemas.microsoft.com/office/drawing/2014/main" id="{E932DB87-F094-4694-8C3C-EF781D36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0388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1"/>
                </a:solidFill>
              </a:defRPr>
            </a:pPr>
            <a:r>
              <a:rPr sz="1200" b="0">
                <a:solidFill>
                  <a:srgbClr val="5D6971"/>
                </a:solidFill>
              </a:rPr>
              <a:t>Nominal current-price context only; not real growth or causation.</a:t>
            </a:r>
          </a:p>
        </p:txBody>
      </p:sp>
      <p:sp>
        <p:nvSpPr>
          <p:cNvPr id="31" name="design-brief-surface">
            <a:extLst xmlns:a="http://schemas.openxmlformats.org/drawingml/2006/main">
              <a:ext uri="{FF2B5EF4-FFF2-40B4-BE49-F238E27FC236}">
                <a16:creationId xmlns:a16="http://schemas.microsoft.com/office/drawing/2014/main" id="{A907F6A4-85B6-4A7F-A19B-75FCE592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781800"/>
            <a:ext cx="14287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B8D4E3"/>
            </a:solidFill>
            <a:prstDash val="solid"/>
          </a:ln>
        </p:spPr>
      </p:sp>
      <p:sp>
        <p:nvSpPr>
          <p:cNvPr id="32" name="design-brief-heading">
            <a:extLst xmlns:a="http://schemas.openxmlformats.org/drawingml/2006/main">
              <a:ext uri="{FF2B5EF4-FFF2-40B4-BE49-F238E27FC236}">
                <a16:creationId xmlns:a16="http://schemas.microsoft.com/office/drawing/2014/main" id="{9F70041F-ADF4-40E8-A3DD-C8866294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675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2B2"/>
                </a:solidFill>
              </a:defRPr>
            </a:pPr>
            <a:r>
              <a:rPr sz="1800" b="1">
                <a:solidFill>
                  <a:srgbClr val="0072B2"/>
                </a:solidFill>
              </a:rPr>
              <a:t>DESIGN BRIEF</a:t>
            </a:r>
          </a:p>
        </p:txBody>
      </p:sp>
      <p:sp>
        <p:nvSpPr>
          <p:cNvPr id="33" name="design-brief-audience">
            <a:extLst xmlns:a="http://schemas.openxmlformats.org/drawingml/2006/main">
              <a:ext uri="{FF2B5EF4-FFF2-40B4-BE49-F238E27FC236}">
                <a16:creationId xmlns:a16="http://schemas.microsoft.com/office/drawing/2014/main" id="{E794E44D-05BE-4606-980E-823BDBC3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53275"/>
            <a:ext cx="714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This redesign is intended for general readers of climate news who want to compare how the largest-emitting countries contribute to global fossil CO₂ emissions. It supports comparisons of national totals and per-capita emissions, showing contributions and population-adjusted differences. The five highest emitters in 2023 are shown because together they produced about 60% of global fossil CO₂ emissions. This keeps the comparison compact without hiding differences inside aggregated regional categories.</a:t>
            </a:r>
          </a:p>
        </p:txBody>
      </p:sp>
      <p:sp>
        <p:nvSpPr>
          <p:cNvPr id="34" name="brief-column-divider">
            <a:extLst xmlns:a="http://schemas.openxmlformats.org/drawingml/2006/main">
              <a:ext uri="{FF2B5EF4-FFF2-40B4-BE49-F238E27FC236}">
                <a16:creationId xmlns:a16="http://schemas.microsoft.com/office/drawing/2014/main" id="{DA79E8F1-A9D2-4647-8A45-4910A0E5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9532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ain-revisions-heading">
            <a:extLst xmlns:a="http://schemas.openxmlformats.org/drawingml/2006/main">
              <a:ext uri="{FF2B5EF4-FFF2-40B4-BE49-F238E27FC236}">
                <a16:creationId xmlns:a16="http://schemas.microsoft.com/office/drawing/2014/main" id="{BE55EB57-41FB-4943-AFE3-5585C6BA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867525"/>
            <a:ext cx="614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Main revisions</a:t>
            </a:r>
          </a:p>
        </p:txBody>
      </p:sp>
      <p:sp>
        <p:nvSpPr>
          <p:cNvPr id="36" name="brief-item-1">
            <a:extLst xmlns:a="http://schemas.openxmlformats.org/drawingml/2006/main">
              <a:ext uri="{FF2B5EF4-FFF2-40B4-BE49-F238E27FC236}">
                <a16:creationId xmlns:a16="http://schemas.microsoft.com/office/drawing/2014/main" id="{1A8B18F2-753B-4108-BAFD-3D0C19C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067550"/>
            <a:ext cx="6143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Focus on the five highest-emitting countries for direct comparison</a:t>
            </a:r>
          </a:p>
        </p:txBody>
      </p:sp>
      <p:sp>
        <p:nvSpPr>
          <p:cNvPr id="37" name="brief-item-2">
            <a:extLst xmlns:a="http://schemas.openxmlformats.org/drawingml/2006/main">
              <a:ext uri="{FF2B5EF4-FFF2-40B4-BE49-F238E27FC236}">
                <a16:creationId xmlns:a16="http://schemas.microsoft.com/office/drawing/2014/main" id="{89419B57-F613-419B-9936-5F5E4754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267575"/>
            <a:ext cx="6143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Use a sparkline summary table to separate historical trends</a:t>
            </a:r>
          </a:p>
        </p:txBody>
      </p:sp>
      <p:sp>
        <p:nvSpPr>
          <p:cNvPr id="38" name="brief-item-3">
            <a:extLst xmlns:a="http://schemas.openxmlformats.org/drawingml/2006/main">
              <a:ext uri="{FF2B5EF4-FFF2-40B4-BE49-F238E27FC236}">
                <a16:creationId xmlns:a16="http://schemas.microsoft.com/office/drawing/2014/main" id="{541613F4-D73D-49EA-905A-C937A564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467600"/>
            <a:ext cx="614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Pair trends with totals, per-capita values, global share, and emissions and nominal GDP changes from 2019 to 2023</a:t>
            </a:r>
          </a:p>
        </p:txBody>
      </p:sp>
      <p:sp>
        <p:nvSpPr>
          <p:cNvPr id="39" name="brief-item-4">
            <a:extLst xmlns:a="http://schemas.openxmlformats.org/drawingml/2006/main">
              <a:ext uri="{FF2B5EF4-FFF2-40B4-BE49-F238E27FC236}">
                <a16:creationId xmlns:a16="http://schemas.microsoft.com/office/drawing/2014/main" id="{F92F00F2-B48C-4C4A-9AF1-2D58398C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829550"/>
            <a:ext cx="6143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Apply distinct Okabe–Ito colours with direct country labels</a:t>
            </a:r>
          </a:p>
        </p:txBody>
      </p:sp>
      <p:sp>
        <p:nvSpPr>
          <p:cNvPr id="40" name="brief-item-5">
            <a:extLst xmlns:a="http://schemas.openxmlformats.org/drawingml/2006/main">
              <a:ext uri="{FF2B5EF4-FFF2-40B4-BE49-F238E27FC236}">
                <a16:creationId xmlns:a16="http://schemas.microsoft.com/office/drawing/2014/main" id="{65207A74-7247-4067-92EC-FF1656AD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8029575"/>
            <a:ext cx="6143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A"/>
                </a:solidFill>
              </a:defRPr>
            </a:pPr>
            <a:r>
              <a:rPr sz="1200" b="0">
                <a:solidFill>
                  <a:srgbClr val="26323A"/>
                </a:solidFill>
              </a:rPr>
              <a:t>• Encode increases and decreases with arrows, signs, and blue/orange styling</a:t>
            </a:r>
          </a:p>
        </p:txBody>
      </p:sp>
      <p:sp>
        <p:nvSpPr>
          <p:cNvPr id="4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7DEA7E4-E67E-44DF-918F-E24922A2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24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1"/>
                </a:solidFill>
              </a:defRPr>
            </a:pPr>
            <a:r>
              <a:rPr sz="1200" b="0">
                <a:solidFill>
                  <a:srgbClr val="5D6971"/>
                </a:solidFill>
              </a:rPr>
              <a:t>Carbon Brief · Global Carbon Project · World Bank</a:t>
            </a:r>
          </a:p>
        </p:txBody>
      </p:sp>
      <p:sp>
        <p:nvSpPr>
          <p:cNvPr id="42" name="footer-team">
            <a:extLst xmlns:a="http://schemas.openxmlformats.org/drawingml/2006/main">
              <a:ext uri="{FF2B5EF4-FFF2-40B4-BE49-F238E27FC236}">
                <a16:creationId xmlns:a16="http://schemas.microsoft.com/office/drawing/2014/main" id="{18262459-389B-4187-ACB9-6D50A32D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3248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83B56"/>
                </a:solidFill>
              </a:defRPr>
            </a:pPr>
            <a:r>
              <a:rPr sz="1200" b="1">
                <a:solidFill>
                  <a:srgbClr val="183B56"/>
                </a:solidFill>
              </a:rPr>
              <a:t>TEAM SLATEBLUE</a:t>
            </a:r>
          </a:p>
        </p:txBody>
      </p:sp>
    </p:spTree>
    <p:extLst>
      <p:ext uri="{BB962C8B-B14F-4D97-AF65-F5344CB8AC3E}">
        <p14:creationId xmlns:p14="http://schemas.microsoft.com/office/powerpoint/2010/main" val="1463500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2026-07-24T15:54:34.6230000Z</dcterms:created>
  <dcterms:modified xsi:type="dcterms:W3CDTF">2026-07-24T15:54:34.6230000Z</dcterms:modified>
</coreProperties>
</file>